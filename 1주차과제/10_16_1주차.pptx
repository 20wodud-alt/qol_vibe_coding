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5ac580c6be2918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5ac580c6be2918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5ac580c6be2918b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5ac580c6be2918b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5ac580c6be2918b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5ac580c6be2918b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5ac580c6be2918b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5ac580c6be2918b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5ac580c6be2918bd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5ac580c6be2918b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9f4f47a6da2490f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9f4f47a6da2490f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9f4f47a6da2490f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49f4f47a6da2490f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9700e3d6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9700e3d6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9f4f47a6da2490f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49f4f47a6da2490f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972538f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972538f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5ac580c6be2918b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5ac580c6be2918b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5ac580c6be2918b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5ac580c6be2918b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972538f3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972538f3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8f0cc46bbe8758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8f0cc46bbe8758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5e0cc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975e0cc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7551c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977551c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5e0cce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975e0cce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5e0cce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975e0cce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5e0cce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975e0cce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975e0cce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975e0cce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975e0cce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975e0cce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742bc1ec_8_0)">
  <p:cSld name="Generated (g3f9742bc1ec_8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l.acm.org/doi/10.1145/3161187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AI-native Workshop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</a:t>
            </a:r>
            <a:endParaRPr/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Cockpit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개발 환경</a:t>
            </a:r>
            <a:endParaRPr/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일단 기본 설정과 세팅은 스크립트를 통해 설치 (아래 링크를 AI에게 주고 설치)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https://github.com/whatfontisthis/claude-setup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AI</a:t>
            </a:r>
            <a:r>
              <a:rPr lang="en"/>
              <a:t>는 제미나이 사용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IDE(통합 개발 환경)은 VS 코드 사용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그 외 웹 프레임 워크, 데이터 베이스, 배포 서비스는 차차 안내드릴 예정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개발 환경</a:t>
            </a:r>
            <a:endParaRPr/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72750" y="1219200"/>
            <a:ext cx="8520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데스크탑 앱 대신 VS Code를 사용하는 이유:</a:t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69" name="Google Shape;69;p16"/>
          <p:cNvGrpSpPr/>
          <p:nvPr/>
        </p:nvGrpSpPr>
        <p:grpSpPr>
          <a:xfrm>
            <a:off x="311625" y="1801675"/>
            <a:ext cx="2648100" cy="2952900"/>
            <a:chOff x="0" y="0"/>
            <a:chExt cx="2648100" cy="2952900"/>
          </a:xfrm>
        </p:grpSpPr>
        <p:sp>
          <p:nvSpPr>
            <p:cNvPr id="70" name="Google Shape;70;p16"/>
            <p:cNvSpPr/>
            <p:nvPr/>
          </p:nvSpPr>
          <p:spPr>
            <a:xfrm>
              <a:off x="0" y="0"/>
              <a:ext cx="2648100" cy="2952900"/>
            </a:xfrm>
            <a:prstGeom prst="roundRect">
              <a:avLst>
                <a:gd fmla="val 431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6"/>
            <p:cNvSpPr txBox="1"/>
            <p:nvPr/>
          </p:nvSpPr>
          <p:spPr>
            <a:xfrm>
              <a:off x="228600" y="228600"/>
              <a:ext cx="21909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folder_open</a:t>
              </a:r>
              <a:endParaRPr sz="2800">
                <a:solidFill>
                  <a:srgbClr val="0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9090B"/>
                  </a:solidFill>
                  <a:latin typeface="Arial"/>
                  <a:ea typeface="Arial"/>
                  <a:cs typeface="Arial"/>
                  <a:sym typeface="Arial"/>
                </a:rPr>
                <a:t>통합 파일 관리</a:t>
              </a:r>
              <a:endParaRPr b="1" sz="1600">
                <a:solidFill>
                  <a:srgbClr val="09090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마크다운(.md) 및 다이어그램(.excalidraw) 제어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프로젝트 문서와 코드를 동일 환경에서 수정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파일 탐색기 기반의 체계적 구조 관리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" name="Google Shape;72;p16"/>
          <p:cNvGrpSpPr/>
          <p:nvPr/>
        </p:nvGrpSpPr>
        <p:grpSpPr>
          <a:xfrm>
            <a:off x="3247950" y="1801675"/>
            <a:ext cx="2648100" cy="2952900"/>
            <a:chOff x="0" y="0"/>
            <a:chExt cx="2648100" cy="2952900"/>
          </a:xfrm>
        </p:grpSpPr>
        <p:sp>
          <p:nvSpPr>
            <p:cNvPr id="73" name="Google Shape;73;p16"/>
            <p:cNvSpPr/>
            <p:nvPr/>
          </p:nvSpPr>
          <p:spPr>
            <a:xfrm>
              <a:off x="0" y="0"/>
              <a:ext cx="2648100" cy="2952900"/>
            </a:xfrm>
            <a:prstGeom prst="roundRect">
              <a:avLst>
                <a:gd fmla="val 431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6"/>
            <p:cNvSpPr txBox="1"/>
            <p:nvPr/>
          </p:nvSpPr>
          <p:spPr>
            <a:xfrm>
              <a:off x="228600" y="228600"/>
              <a:ext cx="21909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smart_toy</a:t>
              </a:r>
              <a:endParaRPr sz="2800">
                <a:solidFill>
                  <a:srgbClr val="0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9090B"/>
                  </a:solidFill>
                  <a:latin typeface="Arial"/>
                  <a:ea typeface="Arial"/>
                  <a:cs typeface="Arial"/>
                  <a:sym typeface="Arial"/>
                </a:rPr>
                <a:t>AI 어시스턴트 연동</a:t>
              </a:r>
              <a:endParaRPr b="1" sz="1600">
                <a:solidFill>
                  <a:srgbClr val="09090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</a:rPr>
                <a:t>클로드코드, 코덱스, </a:t>
              </a: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제미나이 등 다양한 AI 도구 통합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자동화 스크립트 실행 및 프롬프트 연동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코드 context를 유지한 강력한 지원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16"/>
          <p:cNvGrpSpPr/>
          <p:nvPr/>
        </p:nvGrpSpPr>
        <p:grpSpPr>
          <a:xfrm>
            <a:off x="6184275" y="1801675"/>
            <a:ext cx="2648100" cy="2952900"/>
            <a:chOff x="0" y="0"/>
            <a:chExt cx="2648100" cy="2952900"/>
          </a:xfrm>
        </p:grpSpPr>
        <p:sp>
          <p:nvSpPr>
            <p:cNvPr id="76" name="Google Shape;76;p16"/>
            <p:cNvSpPr/>
            <p:nvPr/>
          </p:nvSpPr>
          <p:spPr>
            <a:xfrm>
              <a:off x="0" y="0"/>
              <a:ext cx="2648100" cy="2952900"/>
            </a:xfrm>
            <a:prstGeom prst="roundRect">
              <a:avLst>
                <a:gd fmla="val 431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6"/>
            <p:cNvSpPr txBox="1"/>
            <p:nvPr/>
          </p:nvSpPr>
          <p:spPr>
            <a:xfrm>
              <a:off x="228600" y="228600"/>
              <a:ext cx="21909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2800">
                <a:solidFill>
                  <a:srgbClr val="0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9090B"/>
                  </a:solidFill>
                  <a:latin typeface="Arial"/>
                  <a:ea typeface="Arial"/>
                  <a:cs typeface="Arial"/>
                  <a:sym typeface="Arial"/>
                </a:rPr>
                <a:t>뛰어난 확장성</a:t>
              </a:r>
              <a:endParaRPr b="1" sz="1600">
                <a:solidFill>
                  <a:srgbClr val="09090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내장 터미널 및 버전 관리(Git) 지원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풍부한 플러그인 생태계 활용 가능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웹 워크숍 전반의 단일 개발 환경 구축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</a:t>
            </a:r>
            <a:r>
              <a:rPr lang="en"/>
              <a:t>코드에서 Gemini 사용하는 방법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72750" y="1219200"/>
            <a:ext cx="8520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">
                <a:solidFill>
                  <a:srgbClr val="000000"/>
                </a:solidFill>
              </a:rPr>
              <a:t>확장 탭에서 “</a:t>
            </a:r>
            <a:r>
              <a:rPr b="1" lang="en">
                <a:solidFill>
                  <a:srgbClr val="000000"/>
                </a:solidFill>
              </a:rPr>
              <a:t>Antigravity</a:t>
            </a:r>
            <a:r>
              <a:rPr lang="en">
                <a:solidFill>
                  <a:srgbClr val="000000"/>
                </a:solidFill>
              </a:rPr>
              <a:t>” 검색 후 설치 </a:t>
            </a:r>
            <a:r>
              <a:rPr lang="en">
                <a:solidFill>
                  <a:srgbClr val="FF0000"/>
                </a:solidFill>
              </a:rPr>
              <a:t>(gemini에서 명칭을 바꿈)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50" y="1654925"/>
            <a:ext cx="6007654" cy="323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코드에서 Gemini 사용하는 방법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72750" y="1219200"/>
            <a:ext cx="8520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2. 설치후 생긴 antigravity 아이콘을 드래그해서 우측 패널에 이동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175" y="1649050"/>
            <a:ext cx="6007654" cy="323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코드에서 Gemini 사용하는 방법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72750" y="1219200"/>
            <a:ext cx="8520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3. 우측 패널에서 antigravity 사용(google 로그인 필요)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50" y="1600200"/>
            <a:ext cx="6007654" cy="323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마크다운 파일(.md)이란 뭔가?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Markdown 파일, 쉽고, 읽기 편하고, 공유하기 쉬움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.md 확장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AI가 잘 읽고, 잘 작성하는 문서 유형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실습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마크다운 코드 파일 만들기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마크다운 테이블 만들기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마크다운으로 mermaid 다이어그램</a:t>
            </a:r>
            <a:r>
              <a:rPr lang="en" sz="2000"/>
              <a:t> 만들기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Excalidraw(.excalidraw)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다이어그램이나 컨셉맵 그릴 수 있음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.excalidraw 확장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AI</a:t>
            </a:r>
            <a:r>
              <a:rPr lang="en"/>
              <a:t>가 이해하고 수정할 수 있음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VS </a:t>
            </a:r>
            <a:r>
              <a:rPr lang="en"/>
              <a:t>코드에서 확장으로 설치하여 사용할 수 있음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Whisper Flow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4281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음성으로 프롬프드 작성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음성이 타이핑보다 약 3배 빠름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논문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https://dl.acm.org/doi/10.1145/3161187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웹앱 만들기 Best Practice (BMI 계산기)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레퍼런스 사이트를 스크린샷을 찍은 후 AI에게 전달 (Pinterest, Google </a:t>
            </a:r>
            <a:r>
              <a:rPr lang="en"/>
              <a:t>Image</a:t>
            </a:r>
            <a:r>
              <a:rPr lang="en"/>
              <a:t>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“BMI 계산기 웹앱을 단일 HTML파일로 만들어줘” AI에게 요청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만들어진 파일를 열어 확인하기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Cmd+Shift+C 또는 Ctrl+Shift+C를 눌러 수정 요소 선택 → element 복사하여 정확하게 수정 사항 전달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만족할 때까지 수정반복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구글 크롬에서 컴포넌트/요소 특정하는 방법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F12</a:t>
            </a:r>
            <a:r>
              <a:rPr lang="en"/>
              <a:t>를 눌러 개발자 도구를 열고, 우측 상단 </a:t>
            </a:r>
            <a:r>
              <a:rPr b="1" lang="en"/>
              <a:t>요소 선택</a:t>
            </a:r>
            <a:r>
              <a:rPr lang="en"/>
              <a:t> 클릭</a:t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350" y="1691848"/>
            <a:ext cx="5796526" cy="312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구글 크롬에서 </a:t>
            </a:r>
            <a:r>
              <a:rPr lang="en"/>
              <a:t>모바일 사이트 보는 방법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F12를 눌러 개발자 도구를 열고, 우측 상단 </a:t>
            </a:r>
            <a:r>
              <a:rPr b="1" lang="en"/>
              <a:t>모바일 보기</a:t>
            </a:r>
            <a:r>
              <a:rPr lang="en"/>
              <a:t> </a:t>
            </a:r>
            <a:r>
              <a:rPr lang="en"/>
              <a:t> 클릭</a:t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200" y="1619949"/>
            <a:ext cx="633765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디자인 방향을 잡는 방법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/>
              <a:t>[추천] 스크린샷 전달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“브루탈리즘”, “Apple 스타일”과 같은 디자인 용어를 사용하여 묘사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Google Stitch/V0와 같은 UI 전문 앱을 사용하여 초안 제작 → .zip으로 내보내기 → VS Code에 가져와 세부 작업 이어하기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Design.md를 반영하여 디자인 요청하기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API란 </a:t>
            </a:r>
            <a:r>
              <a:rPr lang="en"/>
              <a:t>무엇이고 왜 쓰는가</a:t>
            </a:r>
            <a:r>
              <a:rPr lang="en"/>
              <a:t>?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45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API는 서로 다른 컴퓨터 프로그램들이 데이터를 주고받게 할 수 있게 도와주는 중계자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예) 앱이 직접 온도를 재는 게 아니라, 기상청 API를 통해 온도 데이터를 가져옴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비유: </a:t>
            </a:r>
            <a:r>
              <a:rPr b="1" lang="en" sz="1900"/>
              <a:t>사람</a:t>
            </a:r>
            <a:r>
              <a:rPr lang="en" sz="1900"/>
              <a:t>이 </a:t>
            </a:r>
            <a:r>
              <a:rPr b="1" lang="en" sz="1900"/>
              <a:t>웨이터(API)</a:t>
            </a:r>
            <a:r>
              <a:rPr lang="en" sz="1900"/>
              <a:t>를 통해 </a:t>
            </a:r>
            <a:r>
              <a:rPr b="1" lang="en" sz="1900"/>
              <a:t>주방</a:t>
            </a:r>
            <a:r>
              <a:rPr lang="en" sz="1900"/>
              <a:t>에 주문함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API 쓰는 이유: </a:t>
            </a:r>
            <a:endParaRPr sz="19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사람이 주방에 직접 안들어가고 음식을 받음(주방 </a:t>
            </a:r>
            <a:r>
              <a:rPr lang="en"/>
              <a:t>보안</a:t>
            </a:r>
            <a:r>
              <a:rPr lang="en"/>
              <a:t>/위생)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다른 사람이 잘 만들어 둔 기능을 내 서비스에 쉽게 제공할 수 있음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7885" y="3590025"/>
            <a:ext cx="4848224" cy="138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정리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AI-native </a:t>
            </a:r>
            <a:r>
              <a:rPr lang="en"/>
              <a:t>환경 구축 완료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바이브 코딩 웹앱 제작 Best Practice 수립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디자인 방향성 설정 방법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API 작동 원리 및 연동 구조 파악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9090B"/>
                </a:highlight>
              </a:rPr>
              <a:t>1주차: 과제 안내</a:t>
            </a:r>
            <a:endParaRPr>
              <a:highlight>
                <a:srgbClr val="09090B"/>
              </a:highlight>
            </a:endParaRPr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AI-first </a:t>
            </a:r>
            <a:r>
              <a:rPr lang="en">
                <a:solidFill>
                  <a:schemeClr val="lt1"/>
                </a:solidFill>
              </a:rPr>
              <a:t>기본기를 위한 실습입니다. </a:t>
            </a:r>
            <a:endParaRPr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구현이 1차 목적이고, </a:t>
            </a:r>
            <a:r>
              <a:rPr lang="en">
                <a:solidFill>
                  <a:schemeClr val="lt1"/>
                </a:solidFill>
              </a:rPr>
              <a:t>UI/UX 개념을 살펴보고 반영해보세요</a:t>
            </a:r>
            <a:endParaRPr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본인이 기획하고 의도하는 결과물이 나오면 됩니다.</a:t>
            </a:r>
            <a:endParaRPr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각 과제를 별도의 폴더로 만들어 진행합니다.</a:t>
            </a:r>
            <a:endParaRPr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파일은 단일 html 파일로 제한해주세요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과제 0 - </a:t>
            </a:r>
            <a:r>
              <a:rPr lang="en"/>
              <a:t>마크다운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Char char="●"/>
            </a:pPr>
            <a:r>
              <a:rPr lang="en">
                <a:solidFill>
                  <a:srgbClr val="F8FAFC"/>
                </a:solidFill>
              </a:rPr>
              <a:t>마크 다운 파일로 회사 </a:t>
            </a:r>
            <a:r>
              <a:rPr lang="en">
                <a:solidFill>
                  <a:srgbClr val="F8FAFC"/>
                </a:solidFill>
              </a:rPr>
              <a:t>문서 및 </a:t>
            </a:r>
            <a:r>
              <a:rPr lang="en">
                <a:solidFill>
                  <a:srgbClr val="F8FAFC"/>
                </a:solidFill>
              </a:rPr>
              <a:t>보고서 </a:t>
            </a:r>
            <a:r>
              <a:rPr lang="en">
                <a:solidFill>
                  <a:srgbClr val="F8FAFC"/>
                </a:solidFill>
              </a:rPr>
              <a:t>작성해보기</a:t>
            </a:r>
            <a:endParaRPr>
              <a:solidFill>
                <a:srgbClr val="F8FAFC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Char char="●"/>
            </a:pPr>
            <a:r>
              <a:rPr lang="en">
                <a:solidFill>
                  <a:srgbClr val="F8FAFC"/>
                </a:solidFill>
              </a:rPr>
              <a:t>표 </a:t>
            </a:r>
            <a:r>
              <a:rPr lang="en">
                <a:solidFill>
                  <a:srgbClr val="F8FAFC"/>
                </a:solidFill>
              </a:rPr>
              <a:t>데이터를 포함할 것</a:t>
            </a:r>
            <a:endParaRPr>
              <a:solidFill>
                <a:srgbClr val="F8FAFC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Char char="●"/>
            </a:pPr>
            <a:r>
              <a:rPr lang="en">
                <a:solidFill>
                  <a:srgbClr val="F8FAFC"/>
                </a:solidFill>
              </a:rPr>
              <a:t>Mermaid</a:t>
            </a:r>
            <a:r>
              <a:rPr lang="en">
                <a:solidFill>
                  <a:srgbClr val="F8FAFC"/>
                </a:solidFill>
              </a:rPr>
              <a:t>를 활용한 도표 및 flowchart를 포함할 것</a:t>
            </a:r>
            <a:endParaRPr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과제 1 - 나이 계산기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생년월일 입력 → 만 나이 출력</a:t>
            </a:r>
            <a:endParaRPr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input, button, 이벤트의 첫 체험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과제 2 - D-day </a:t>
            </a:r>
            <a:r>
              <a:rPr lang="en"/>
              <a:t>카운터</a:t>
            </a:r>
            <a:endParaRPr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목표 날짜까지 남은 일수 계산</a:t>
            </a:r>
            <a:endParaRPr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Date 객체, 실시간 업데이트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과제 3 - </a:t>
            </a:r>
            <a:r>
              <a:rPr lang="en"/>
              <a:t>색상 팔렛 생성기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HEX 코드 입력 → 밝은/어두운 팔렛 변형을 5개 생성. </a:t>
            </a:r>
            <a:endParaRPr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"같은 정보, 다른 형태"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과제 4 - </a:t>
            </a:r>
            <a:r>
              <a:rPr lang="en"/>
              <a:t>더치페이 계산기</a:t>
            </a:r>
            <a:endParaRPr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인원수, 각자 먹은 메뉴, 할인 적용. </a:t>
            </a:r>
            <a:endParaRPr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>
                <a:solidFill>
                  <a:schemeClr val="lt1"/>
                </a:solidFill>
              </a:rPr>
              <a:t>배열, 반복문, 조건 분기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AFC"/>
                </a:solidFill>
              </a:rPr>
              <a:t>과제 5 - QR </a:t>
            </a:r>
            <a:r>
              <a:rPr lang="en">
                <a:solidFill>
                  <a:srgbClr val="F8FAFC"/>
                </a:solidFill>
              </a:rPr>
              <a:t>코드 생성기</a:t>
            </a:r>
            <a:endParaRPr>
              <a:solidFill>
                <a:srgbClr val="F8FAFC"/>
              </a:solidFill>
            </a:endParaRPr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Char char="●"/>
            </a:pPr>
            <a:r>
              <a:rPr lang="en">
                <a:solidFill>
                  <a:srgbClr val="F8FAFC"/>
                </a:solidFill>
              </a:rPr>
              <a:t>링크를 입력하면 QR 코드를 제작 </a:t>
            </a:r>
            <a:endParaRPr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