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1143000"/>
            <a:ext cx="4327855" cy="40233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B923C"/>
                </a:solidFill>
                <a:latin typeface="Pretendard"/>
              </a:rPr>
              <a:t>CUSTOMER DISCOVERY &amp; PIVOT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Pretendard"/>
              </a:rPr>
              <a:t>[열매담] 1차 현장/온라인</a:t>
            </a:r>
          </a:p>
          <a:p>
            <a:pPr algn="ctr"/>
            <a:r>
              <a:rPr sz="3800" b="1">
                <a:solidFill>
                  <a:srgbClr val="FB923C"/>
                </a:solidFill>
                <a:latin typeface="Pretendard"/>
              </a:rPr>
              <a:t>고객 인터뷰 결과 및 가설 검증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9997135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50" b="0">
                <a:solidFill>
                  <a:srgbClr val="94A3B8"/>
                </a:solidFill>
                <a:latin typeface="Pretendard"/>
              </a:rPr>
              <a:t>산지 농가 · 도매 유통사 · 위탁판매 셀러 강사 · 농업기술센터 5개처 입체 검증을 통한 핵심 타겟 재정의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965960" cy="43891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산지 농가 (자연농원)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4952" y="4251960"/>
            <a:ext cx="1965960" cy="43891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대형 유통사 (최고집)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9783" y="4251960"/>
            <a:ext cx="1965960" cy="43891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B2B 도매공급 (과일그로브)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14616" y="4251960"/>
            <a:ext cx="1965960" cy="43891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위탁셀러 강사 (카르)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9448" y="4251960"/>
            <a:ext cx="1965960" cy="43891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지자체 (농업기술센터)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66360"/>
            <a:ext cx="7619695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E2E8F0"/>
                </a:solidFill>
                <a:latin typeface="Pretendard"/>
              </a:rPr>
              <a:t>발표자: 김재영 대표     |     조사 일시: 2026년 10월 20일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3931920" cy="329184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EA580C"/>
                </a:solidFill>
                <a:latin typeface="Pretendard"/>
              </a:rPr>
              <a:t>01. EXECUTIVE SUMMARY (가설 vs 현장 검증)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retendard"/>
              </a:rPr>
              <a:t>책상 위 가설의 맹점 발견 및 </a:t>
            </a:r>
            <a:r>
              <a:rPr sz="2300" b="1">
                <a:solidFill>
                  <a:srgbClr val="EA580C"/>
                </a:solidFill>
                <a:latin typeface="Pretendard"/>
              </a:rPr>
              <a:t>핵심 타겟(Early Adopter) 재정의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777240"/>
            <a:ext cx="10972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400" b="1">
                <a:solidFill>
                  <a:srgbClr val="94A3B8"/>
                </a:solidFill>
                <a:latin typeface="Pretendard"/>
              </a:rPr>
              <a:t>01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11094415" cy="62179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89888"/>
            <a:ext cx="82296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81328"/>
            <a:ext cx="107442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50" b="1">
                <a:solidFill>
                  <a:srgbClr val="9A3412"/>
                </a:solidFill>
                <a:latin typeface="Pretendard"/>
              </a:rPr>
              <a:t>💡 핵심 발견: 영세·고령 농가는 온라인 판매 여력 자체가 없으며, 도매처에서 '사진만 받아' 직접 상세페이지를 만들어야 하는 위탁 셀러와 3040 직거래 농가가 진짜 고객입니다.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76272"/>
          <a:ext cx="1109167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880360"/>
                <a:gridCol w="3346704"/>
                <a:gridCol w="3355848"/>
              </a:tblGrid>
              <a:tr h="106299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</a:rPr>
                        <a:t>검증 영역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</a:rPr>
                        <a:t>기존 사업 가설 (As-Is)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</a:rPr>
                        <a:t>현장 인터뷰 팩트 (To-Be / Fact)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</a:rPr>
                        <a:t>전략 수정 및 피봇 (Action / Pivot)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1062990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F172A"/>
                          </a:solidFill>
                          <a:latin typeface="Pretendard"/>
                        </a:rPr>
                        <a:t>핵심 타겟
(Customer)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334155"/>
                          </a:solidFill>
                          <a:latin typeface="Pretendard"/>
                        </a:rPr>
                        <a:t>1~5인 소규모 산지 농가가 직접 온라인 판매를 하며 상세페이지에 고통받을 것이다.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9A3412"/>
                          </a:solidFill>
                          <a:latin typeface="Pretendard"/>
                        </a:rPr>
                        <a:t>• 영세 농가(자연농원): 인력 부족으로 온라인 판매 안 함 (로컬푸드로 충분)
• 고령층(농기센): 40대 이상 중년층만 관심, 고령층은 자동화 툴도 어려워함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65F46"/>
                          </a:solidFill>
                          <a:latin typeface="Pretendard"/>
                        </a:rPr>
                        <a:t>[타겟 정교화] 영세/고령 농가 제외 →
① 3040 청년·중견 직거래 농가
② 사진만 받아 직접 제작하는 '과일 위탁 셀러'로 투트랙 전환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1062990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F172A"/>
                          </a:solidFill>
                          <a:latin typeface="Pretendard"/>
                        </a:rPr>
                        <a:t>핵심 문제
(Problem)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334155"/>
                          </a:solidFill>
                          <a:latin typeface="Pretendard"/>
                        </a:rPr>
                        <a:t>AI가 글을 못 써서 힘들 것이다 vs 과장 광고 신고가 두려울 것이다.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9A3412"/>
                          </a:solidFill>
                          <a:latin typeface="Pretendard"/>
                        </a:rPr>
                        <a:t>• 생성형 AI의 진짜 문제(최고집): AI가 빈번하게 만드는 '정보 표기 누락 및 오표기' 때문에 결국 사람이 다시 검수함
• 판매팀-디자이너 간 콘티 소통 병목 심각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65F46"/>
                          </a:solidFill>
                          <a:latin typeface="Pretendard"/>
                        </a:rPr>
                        <a:t>[기능 검증 완료] 범용 AI의 고질병인 '정보 누락/오표기'를 잡아주는 당사의 [농산물 팩트 체크 &amp; 사전 검수 엔진] 가치 100% 입증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1062990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F172A"/>
                          </a:solidFill>
                          <a:latin typeface="Pretendard"/>
                        </a:rPr>
                        <a:t>유통의 빈틈
(Channel)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334155"/>
                          </a:solidFill>
                          <a:latin typeface="Pretendard"/>
                        </a:rPr>
                        <a:t>농가가 상세페이지를 다 만들어서 올릴 것이다.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9A3412"/>
                          </a:solidFill>
                          <a:latin typeface="Pretendard"/>
                        </a:rPr>
                        <a:t>• 도매업체(과일그로브): 셀러에게 '과일 사진만 제공', 상세페이지는 셀러가 알아서 제작
• 셀러 강사(카르): 저렴한 자동화 툴 추천 중이나 키워드·상품등록·상위노출 연계 희망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65F46"/>
                          </a:solidFill>
                          <a:latin typeface="Pretendard"/>
                        </a:rPr>
                        <a:t>[B2B2C 제휴 발굴] 사진만 주는 도매처(과일그로브) 및 셀러 강사(카르)와 제휴하여 소속 위탁 셀러에게 기본 툴로 번들링 공급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3931920" cy="329184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EA580C"/>
                </a:solidFill>
                <a:latin typeface="Pretendard"/>
              </a:rPr>
              <a:t>02. FIELD INTERVIEW INSIGHTS (산지 농가 · 기관 · 대형 유통사)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retendard"/>
              </a:rPr>
              <a:t>누가 온라인 판매를 하며, </a:t>
            </a:r>
            <a:r>
              <a:rPr sz="2300" b="1">
                <a:solidFill>
                  <a:srgbClr val="EA580C"/>
                </a:solidFill>
                <a:latin typeface="Pretendard"/>
              </a:rPr>
              <a:t>어디서 AI 병목이 터지는가?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777240"/>
            <a:ext cx="10972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400" b="1">
                <a:solidFill>
                  <a:srgbClr val="94A3B8"/>
                </a:solidFill>
                <a:latin typeface="Pretendard"/>
              </a:rPr>
              <a:t>02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47872" cy="4846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39"/>
            <a:ext cx="13716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Pretendard"/>
              </a:rPr>
              <a:t>[산지 농가]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91639"/>
            <a:ext cx="20116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Pretendard"/>
              </a:rPr>
              <a:t>🚫 영세 농가 타겟 제외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31821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Pretendard"/>
              </a:rPr>
              <a:t>① 과일농사 『자연농원』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32888"/>
            <a:ext cx="31821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32888"/>
            <a:ext cx="54864" cy="182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624328"/>
            <a:ext cx="2980944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Pretendard"/>
              </a:rPr>
              <a:t>"농사일도 바쁜데 온라인 판매를 하려면 전담 인력이 최소 1명 있어야 한다. 인원이 적은 농가는 엄두를 못 내고 로컬푸드 직매장만으로 충분하다."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44568"/>
            <a:ext cx="318211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617720"/>
            <a:ext cx="2962656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Pretendard"/>
              </a:rPr>
              <a:t>✔ 인사이트: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910328"/>
            <a:ext cx="2962656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Pretendard"/>
              </a:rPr>
              <a:t>1~2인 영세 농가는 '상세페이지' 이전에 '택배·CS 여력'이 없음. 이미 스토어를 운영 중인 3~5인 규모 농가로 타겟을 좁혀야 함.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08760"/>
            <a:ext cx="3547872" cy="4846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91639"/>
            <a:ext cx="13716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Pretendard"/>
              </a:rPr>
              <a:t>[지자체 기관]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1691639"/>
            <a:ext cx="20116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Pretendard"/>
              </a:rPr>
              <a:t>🎯 3040 연령대 핀셋 타겟팅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039112"/>
            <a:ext cx="31821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Pretendard"/>
              </a:rPr>
              <a:t>② 『농업기술센터』 특산물담당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2532888"/>
            <a:ext cx="31821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98848" y="2532888"/>
            <a:ext cx="54864" cy="182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624328"/>
            <a:ext cx="2980944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Pretendard"/>
              </a:rPr>
              <a:t>"온라인 상세페이지 자동화 시스템은 40대 정도 되는 층에서 관심이 높다. 나이가 있으신 고령 농가분들은 어려워하셔서 추천드리기 어렵다."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8848" y="4544568"/>
            <a:ext cx="318211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4617720"/>
            <a:ext cx="2962656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Pretendard"/>
              </a:rPr>
              <a:t>✔ 인사이트: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4910328"/>
            <a:ext cx="2962656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Pretendard"/>
              </a:rPr>
              <a:t>농기센 B2G 교육 제안 시 전체 농민이 아닌 '3040 청년농업인 분과' 및 '강소농 이커머스 심화반'을 핀셋 공략해야 전환율 확보 가능.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1508760"/>
            <a:ext cx="3547872" cy="48463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1691639"/>
            <a:ext cx="13716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Pretendard"/>
              </a:rPr>
              <a:t>[중대형 유통사]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1691639"/>
            <a:ext cx="20116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Pretendard"/>
              </a:rPr>
              <a:t>⭐ 핵심 기능(검수) 정당성 입증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2039112"/>
            <a:ext cx="31821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Pretendard"/>
              </a:rPr>
              <a:t>③ 도매유통업체 『최고집』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5" y="2532888"/>
            <a:ext cx="31821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6175" y="2532888"/>
            <a:ext cx="54864" cy="182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2624328"/>
            <a:ext cx="2980944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Pretendard"/>
              </a:rPr>
              <a:t>"판매팀-디자이너 간 콘티 컨펌이 가장 오래 걸립니다. 자체 AI 툴(GPT 연결)을 쓰지만 AI가 아주 빈번하게 만드는 정보 표기 누락·오표기 때문에 결국 사람이 최종 검수합니다."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6175" y="4544568"/>
            <a:ext cx="318211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5904" y="4617720"/>
            <a:ext cx="2962656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Pretendard"/>
              </a:rPr>
              <a:t>🔥 결정적 인사이트: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910328"/>
            <a:ext cx="2962656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Pretendard"/>
              </a:rPr>
              <a:t>내부 개발팀이 있는 대형사는 타겟 제외. 단, 이들이 겪는 [콘티 소통 병목 + AI 정보 누락/오표기 검수]는 중소 셀러에게 똑같이 발생하므로 열매담 검수 엔진의 필요성 100% 입증!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3931920" cy="329184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EA580C"/>
                </a:solidFill>
                <a:latin typeface="Pretendard"/>
              </a:rPr>
              <a:t>03. NEW OPPORTUNITY (도매 공급사 &amp; 위탁판매 생태계)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retendard"/>
              </a:rPr>
              <a:t>가장 빠르게 돈을 낼 </a:t>
            </a:r>
            <a:r>
              <a:rPr sz="2300" b="1">
                <a:solidFill>
                  <a:srgbClr val="EA580C"/>
                </a:solidFill>
                <a:latin typeface="Pretendard"/>
              </a:rPr>
              <a:t>진짜 얼리어답터(Early Adopter)의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777240"/>
            <a:ext cx="10972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400" b="1">
                <a:solidFill>
                  <a:srgbClr val="94A3B8"/>
                </a:solidFill>
                <a:latin typeface="Pretendard"/>
              </a:rPr>
              <a:t>03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13248" cy="3520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Pretendard"/>
              </a:rPr>
              <a:t>④ B2B 도매공급사 『과일그로브』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664208"/>
            <a:ext cx="17373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50" b="1">
                <a:solidFill>
                  <a:srgbClr val="065F46"/>
                </a:solidFill>
                <a:latin typeface="Pretendard"/>
              </a:rPr>
              <a:t>[핵심 유통 빈틈 포착!]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4956048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54864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470916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Pretendard"/>
              </a:rPr>
              <a:t>"우리는 상세페이지 자동화 시스템을 쓰지 않습니다. 과일 사진만 제공하고, 고객(위탁 셀러)이 알아서 직접 상세페이지를 만들어야 합니다."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4956048" cy="1600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Pretendard"/>
              </a:rPr>
              <a:t>• 발견한 기회: 과일 도매업체는 셀러들에게 '원물 사진 몇 장'과 '단가표'만 던져줍니다.
• 즉, 과일그로브에서 과일을 받아 파는 수백~수천 명의 소규모 위탁 셀러들이 매일 그 사진 몇 장으로 상세페이지를 직접 만드느라 고통받고 있는 진짜 타겟입니다.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463040"/>
            <a:ext cx="5413248" cy="35204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645920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9A3412"/>
                </a:solidFill>
                <a:latin typeface="Pretendard"/>
              </a:rPr>
              <a:t>⑤ 위탁판매 전문 강사 『카르』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664208"/>
            <a:ext cx="17373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50" b="1">
                <a:solidFill>
                  <a:srgbClr val="EA580C"/>
                </a:solidFill>
                <a:latin typeface="Pretendard"/>
              </a:rPr>
              <a:t>[최적의 GTM 파트너]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2121408"/>
            <a:ext cx="4956048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5664" y="2121408"/>
            <a:ext cx="54864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2194560"/>
            <a:ext cx="470916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Pretendard"/>
              </a:rPr>
              <a:t>"1:1 위탁판매 강의를 하며 이미 자동화 툴을 사용 중이고, 수강생들에게 더 저렴하게 이용할 수 있는 툴을 적극 추천 중입니다. 상세페이지뿐 아니라 키워드 선택, 상품 등록, 상위 노출까지 신경 쓸 게 많습니다."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218688"/>
            <a:ext cx="4956048" cy="1600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20" b="0">
                <a:solidFill>
                  <a:srgbClr val="9A3412"/>
                </a:solidFill>
                <a:latin typeface="Pretendard"/>
              </a:rPr>
              <a:t>• 발견한 기회: 수강생들에게 유료 툴을 직접 추천·결제하게 만드는 강력한 B2B2C 인플루언서입니다.
• 제품 반영: 단순 이미지 생성을 넘어 [과일 황금 키워드 자동 추천 + 스마트스토어 API 원클릭 등록]이 위탁 셀러의 니즈에 100% 부합합니다.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93792"/>
            <a:ext cx="11094415" cy="120700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13248"/>
            <a:ext cx="2834640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B2B 도매공급처 (과일그로브)
과일 원물 사진만 제공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559552"/>
            <a:ext cx="5486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B923C"/>
                </a:solidFill>
                <a:latin typeface="Pretendard"/>
              </a:rPr>
              <a:t>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5340096"/>
            <a:ext cx="352044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413248"/>
            <a:ext cx="333756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B923C"/>
                </a:solidFill>
                <a:latin typeface="Pretendard"/>
              </a:rPr>
              <a:t>★ 신규 발굴 핵심 타겟 (Pain Point 극대화)
과일 위탁 셀러 &amp; 카르 강사 수강생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559552"/>
            <a:ext cx="5486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B923C"/>
                </a:solidFill>
                <a:latin typeface="Pretendard"/>
              </a:rPr>
              <a:t>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413248"/>
            <a:ext cx="320040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Pretendard"/>
              </a:rPr>
              <a:t>열매담 솔루션 도입 효과
사진 3장으로 10분 제작 + 오표기 검수 + 상품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3931920" cy="329184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EA580C"/>
                </a:solidFill>
                <a:latin typeface="Pretendard"/>
              </a:rPr>
              <a:t>04. ACTION PLAN &amp; GTM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retendard"/>
              </a:rPr>
              <a:t>인터뷰 결과를 반영한 </a:t>
            </a:r>
            <a:r>
              <a:rPr sz="2300" b="1">
                <a:solidFill>
                  <a:srgbClr val="EA580C"/>
                </a:solidFill>
                <a:latin typeface="Pretendard"/>
              </a:rPr>
              <a:t>향후 3대 실행 전략 (Action Plan)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777240"/>
            <a:ext cx="10972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400" b="1">
                <a:solidFill>
                  <a:srgbClr val="94A3B8"/>
                </a:solidFill>
                <a:latin typeface="Pretendard"/>
              </a:rPr>
              <a:t>04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3547872" cy="3886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3547872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4553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EA580C"/>
                </a:solidFill>
                <a:latin typeface="Pretendard"/>
              </a:rPr>
              <a:t>STRATEGY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3145536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Pretendard"/>
              </a:rPr>
              <a:t>거점 고객 Two-Track 재설정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3145536" cy="6583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Pretendard"/>
              </a:rPr>
              <a:t>막연한 1~5인 영세 농가 전체에서 실제 결제력과 결핍이 있는 두 그룹으로 압축합니다.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145536"/>
            <a:ext cx="3145536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255264"/>
            <a:ext cx="2926079" cy="1783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80" b="0">
                <a:solidFill>
                  <a:srgbClr val="0F172A"/>
                </a:solidFill>
                <a:latin typeface="Pretendard"/>
              </a:rPr>
              <a:t>• Track A (산지): 농업기술센터 내 3040 청년농·강소농 직거래 농가
• Track B (셀러): 도매처에서 사진만 받아 매주 수십 개 상품을 올리는 과일 위탁 셀러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481328"/>
            <a:ext cx="3547872" cy="3886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481328"/>
            <a:ext cx="354787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682496"/>
            <a:ext cx="314553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Pretendard"/>
              </a:rPr>
              <a:t>STRATEGY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1956816"/>
            <a:ext cx="3145536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Pretendard"/>
              </a:rPr>
              <a:t>UVP 강화: 오표기 검수 &amp; 키워드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377440"/>
            <a:ext cx="3145536" cy="6583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Pretendard"/>
              </a:rPr>
              <a:t>『최고집』과 『카르』 인터뷰에서 확인된 현업의 진짜 페인포인트를 기능 전면에 배치합니다.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3145536"/>
            <a:ext cx="3145536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255264"/>
            <a:ext cx="2926079" cy="1783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80" b="0">
                <a:solidFill>
                  <a:srgbClr val="0F172A"/>
                </a:solidFill>
                <a:latin typeface="Pretendard"/>
              </a:rPr>
              <a:t>• AI 오표기·누락 검수: 일반 GPT의 중량/당도 표기 누락으로 인한 반품 원천 차단 강조
• 상위노출 키워드 추천: 상세페이지 생성 시 스마트스토어용 과일 황금 키워드(상품명) 자동 추천 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1481328"/>
            <a:ext cx="3547872" cy="38862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481328"/>
            <a:ext cx="354787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1682496"/>
            <a:ext cx="314553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Pretendard"/>
              </a:rPr>
              <a:t>STRATEGY 03 (즉시 실행)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1956816"/>
            <a:ext cx="3145536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Pretendard"/>
              </a:rPr>
              <a:t>도매처 &amp; 셀러 강사 번들링 제휴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2377440"/>
            <a:ext cx="3145536" cy="6583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Pretendard"/>
              </a:rPr>
              <a:t>개별 농가를 한 명씩 설득하는 대신, 타겟이 모여 있는 허브(Hub)와 즉시 제휴합니다.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4" y="3145536"/>
            <a:ext cx="3145536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255264"/>
            <a:ext cx="2926079" cy="1783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80" b="0">
                <a:solidFill>
                  <a:srgbClr val="0F172A"/>
                </a:solidFill>
                <a:latin typeface="Pretendard"/>
              </a:rPr>
              <a:t>• 『카르』 강사 제휴: 수강생 전용 할인 코드(9,900원→6,900원) 제공 및 수강생 10명 유료 파일럿(PoC) 즉시 착수
• 『과일그로브』 역제안: 과일 사진 배포 시 열매담 제작 링크 동시 배포 (Win-Win)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79008"/>
            <a:ext cx="8412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80" b="1">
                <a:solidFill>
                  <a:srgbClr val="FFFFFF"/>
                </a:solidFill>
                <a:latin typeface="Pretendard"/>
              </a:rPr>
              <a:t>❝ 현장 인터뷰를 통해 '막연한 농가'에서 '사진만 받아 파는 과일 위탁 셀러 &amp; 3040 직거래 농가'로 가장 확실한 유료 결제 파이프라인을 찾았습니다.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5779008"/>
            <a:ext cx="2057400" cy="438912"/>
          </a:xfrm>
          <a:prstGeom prst="roundRect">
            <a:avLst>
              <a:gd name="adj" fmla="val 4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/>
              </a:rPr>
              <a:t>Next: 수강생 파일럿 테스트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